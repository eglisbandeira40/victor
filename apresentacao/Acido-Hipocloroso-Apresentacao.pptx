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Posicionar o HClO como um desinfetante de uso geral, seguro e eficaz — o único antisséptico que respeita a pele e os olhos.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apresentação. Reforçar que o guia foi criado para gerar confiança com informação técnica.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Definição objetiva. O ponto central: eficácia de desinfetante com segurança de produto de cuidado pessoal.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de confiança: não é uma química estranha ao corpo — é a molécula que o próprio organismo produz.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Diferenciar os dois conceitos é o que justifica a troca de produto. Higienização remove; desinfecção elimina.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Quebra de objeção: segurança é o principal motivo de troca por quem tem criança, pet ou pele sensível.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prova. Citar os agentes pelo nome técnico transmite credibilidade em reuniões B2B.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social por segmento. Ajustar a ordem conforme o público da reunião (B2C beleza ou B2B operação).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comercial. Usar quando o interlocutor for gestor de operação, limpeza ou compras.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Substituir os textos descritivos pelos valores reais da ficha técnica antes de enviar ao cliente.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chamada para ação. Inserir aqui os dados de contato da empresa antes da apresentação.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502920"/>
            <a:ext cx="5852160" cy="5852160"/>
          </a:xfrm>
          <a:prstGeom prst="ellipse">
            <a:avLst/>
          </a:prstGeom>
          <a:solidFill>
            <a:srgbClr val="17418C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092440" y="1280160"/>
            <a:ext cx="4297680" cy="4297680"/>
          </a:xfrm>
          <a:prstGeom prst="ellipse">
            <a:avLst/>
          </a:prstGeom>
          <a:solidFill>
            <a:srgbClr val="17418C">
              <a:alpha val="26000"/>
            </a:srgbClr>
          </a:solidFill>
          <a:ln w="15875">
            <a:solidFill>
              <a:srgbClr val="2E5FB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006840" y="2194560"/>
            <a:ext cx="2468880" cy="2468880"/>
          </a:xfrm>
          <a:prstGeom prst="ellipse">
            <a:avLst/>
          </a:prstGeom>
          <a:solidFill>
            <a:srgbClr val="4CB152">
              <a:alpha val="12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8632" y="2816352"/>
            <a:ext cx="1225296" cy="122529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85800" y="123444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4CB152"/>
          </a:solidFill>
          <a:ln w="12700">
            <a:solidFill>
              <a:srgbClr val="4CB15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12344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C225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HClO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911096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GUIA TÉCNICO E COMERCIAL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685800" y="1847088"/>
            <a:ext cx="6766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Ácido</a:t>
            </a:r>
            <a:endParaRPr lang="en-US" sz="5400" dirty="0"/>
          </a:p>
          <a:p>
            <a:pPr indent="0" marL="0">
              <a:lnSpc>
                <a:spcPts val="6000"/>
              </a:lnSpc>
              <a:buNone/>
            </a:pPr>
            <a:r>
              <a:rPr lang="en-US" sz="5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Hipocloroso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685800" y="4041648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00"/>
              </a:lnSpc>
              <a:buNone/>
            </a:pPr>
            <a:r>
              <a:rPr lang="en-US" sz="17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desinfetante de uso geral que higieniza com alto poder de ação — e ainda respeita a pele, os olhos e as superfícies.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85800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85800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Seguro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86584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386584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Eficaz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087368" y="5230368"/>
            <a:ext cx="1554480" cy="402336"/>
          </a:xfrm>
          <a:prstGeom prst="roundRect">
            <a:avLst>
              <a:gd name="adj" fmla="val 45455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87368" y="5230368"/>
            <a:ext cx="1554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diário</a:t>
            </a:r>
            <a:endParaRPr lang="en-US" sz="115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30"/>
                            </p:stCondLst>
                            <p:childTnLst>
                              <p:par>
                                <p:cTn id="2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260"/>
                            </p:stCondLst>
                            <p:childTnLst>
                              <p:par>
                                <p:cTn id="3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90"/>
                            </p:stCondLst>
                            <p:childTnLst>
                              <p:par>
                                <p:cTn id="3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780"/>
                            </p:stCondLst>
                            <p:childTnLst>
                              <p:par>
                                <p:cTn id="5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910"/>
                            </p:stCondLst>
                            <p:childTnLst>
                              <p:par>
                                <p:cTn id="6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6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0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vai encontrar neste guia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material feito para ajudar você a entender a tecnologia por trás do ácido hipocloroso — e a confiar nesse aliado no cuidado diário.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852928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472184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é o ácido hipocloroso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72184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Definição, composição e para que serve</a:t>
            </a:r>
            <a:endParaRPr lang="en-US" sz="12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88" y="2852928"/>
            <a:ext cx="548640" cy="5486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15888" y="285292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7202272" y="2834640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defesa que o corpo já produz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202272" y="3163824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origem natural da molécula</a:t>
            </a:r>
            <a:endParaRPr lang="en-US" sz="12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968496"/>
            <a:ext cx="548640" cy="5486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5800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1472184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472184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que muda o resultado</a:t>
            </a:r>
            <a:endParaRPr lang="en-US" sz="12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88" y="3968496"/>
            <a:ext cx="548640" cy="5486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15888" y="396849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7202272" y="3950208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 para o uso diário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7202272" y="4279392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Pele, olhos, bebês e superfícies</a:t>
            </a:r>
            <a:endParaRPr lang="en-US" sz="12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084064"/>
            <a:ext cx="548640" cy="54864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85800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16"/>
          <p:cNvSpPr/>
          <p:nvPr/>
        </p:nvSpPr>
        <p:spPr>
          <a:xfrm>
            <a:off x="1472184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Espectro de ação comprovado</a:t>
            </a:r>
            <a:endParaRPr lang="en-US" sz="1500" dirty="0"/>
          </a:p>
        </p:txBody>
      </p:sp>
      <p:sp>
        <p:nvSpPr>
          <p:cNvPr id="24" name="Text 17"/>
          <p:cNvSpPr/>
          <p:nvPr/>
        </p:nvSpPr>
        <p:spPr>
          <a:xfrm>
            <a:off x="1472184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combatidos</a:t>
            </a:r>
            <a:endParaRPr lang="en-US" sz="125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15888" y="5084064"/>
            <a:ext cx="548640" cy="54864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415888" y="50840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19"/>
          <p:cNvSpPr/>
          <p:nvPr/>
        </p:nvSpPr>
        <p:spPr>
          <a:xfrm>
            <a:off x="7202272" y="5065776"/>
            <a:ext cx="4303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 e aplicações</a:t>
            </a:r>
            <a:endParaRPr lang="en-US" sz="1500" dirty="0"/>
          </a:p>
        </p:txBody>
      </p:sp>
      <p:sp>
        <p:nvSpPr>
          <p:cNvPr id="28" name="Text 20"/>
          <p:cNvSpPr/>
          <p:nvPr/>
        </p:nvSpPr>
        <p:spPr>
          <a:xfrm>
            <a:off x="7202272" y="5394960"/>
            <a:ext cx="43036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Ativo, tempo de ação, duração e uso</a:t>
            </a:r>
            <a:endParaRPr lang="en-US" sz="125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3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040"/>
                            </p:stCondLst>
                            <p:childTnLst>
                              <p:par>
                                <p:cTn id="10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2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5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52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5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DEFINIÇÃO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desinfetante de uso geral — seguro e eficaz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HClO é o único antisséptico que respeita a pele e os olhos. Combate germes, vírus e bactérias sem atacar a superfície tratada — por isso é indicado até para higienizar as mãos dos bebês desde o nascimento.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3328416"/>
            <a:ext cx="566928" cy="566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Desinfecção de alto poder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96696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contra germes, vírus e bactérias em superfícies, objetos e pele — muito além da higienização comum.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414418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314" y="3328416"/>
            <a:ext cx="566928" cy="566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25314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Respeita pele e olhos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725314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irrita e não resseca. Pode ser usado no rosto, nas mãos e ao redor dos olhos, todos os dias.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43037" y="3017520"/>
            <a:ext cx="3362858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3933" y="3328416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453933" y="4078224"/>
            <a:ext cx="27410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desde o nascimento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8453933" y="4700016"/>
            <a:ext cx="274106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 para higienizar as mãos dos bebês desde os primeiros dias de vida.</a:t>
            </a:r>
            <a:endParaRPr lang="en-US" sz="12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17418C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tecnologia que o seu corpo já usa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nome que quase ninguém conhece — e uma substância mais comum do que se imagina. O ácido hipocloroso é produzido pelo nosso próprio organismo quando entramos em estado de alerta contra vírus e bactérias.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401568"/>
            <a:ext cx="475488" cy="4754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78408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78408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Ameaça detectada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978408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Vírus e bactérias entram em contato com o organismo.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470834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442" y="340156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3442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763442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Estado de alerta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763442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sistema de defesa é acionado imediatamente.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55868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3401568"/>
            <a:ext cx="475488" cy="4754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48476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548476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Produção de HClO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548476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células de defesa liberam o ácido hipocloroso.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9040901" y="3108960"/>
            <a:ext cx="2464994" cy="2057400"/>
          </a:xfrm>
          <a:prstGeom prst="roundRect">
            <a:avLst>
              <a:gd name="adj" fmla="val 4444"/>
            </a:avLst>
          </a:prstGeom>
          <a:solidFill>
            <a:srgbClr val="17356E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3509" y="3401568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33509" y="34015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9333509" y="4041648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Neutralização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9333509" y="4370832"/>
            <a:ext cx="187977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microrganismos são eliminados sem agredir o tecido.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5800" y="544068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CB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molécula da nossa defesa natural — agora estabilizada e pronta para o uso diário.</a:t>
            </a:r>
            <a:endParaRPr lang="en-US" sz="14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5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52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5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1040"/>
                            </p:stCondLst>
                            <p:childTnLst>
                              <p:par>
                                <p:cTn id="10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2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5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não é desinfetar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Vivemos em estado de alerta e, quando o assunto é higiene, limpar já não basta. O ácido hipocloroso age em outro nível: mais que higienizar, ele desinfeta.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3218688"/>
            <a:ext cx="566928" cy="566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1088136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Reduz a sujeira aparente da superfície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resíduos, gordura e poeira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garante a eliminação de microrganismos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Exige um segundo produto para desinfetar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324448" y="2880360"/>
            <a:ext cx="5181448" cy="2697480"/>
          </a:xfrm>
          <a:prstGeom prst="roundRect">
            <a:avLst>
              <a:gd name="adj" fmla="val 3390"/>
            </a:avLst>
          </a:prstGeom>
          <a:solidFill>
            <a:srgbClr val="17418C"/>
          </a:solidFill>
          <a:ln/>
          <a:effectLst>
            <a:outerShdw sx="100000" sy="100000" kx="0" ky="0" algn="bl" rotWithShape="0" blurRad="177800" dist="38100" dir="5400000">
              <a:srgbClr val="0C2259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496" y="3218688"/>
            <a:ext cx="566928" cy="566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21728" y="3218688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Desinfetar</a:t>
            </a:r>
            <a:endParaRPr lang="en-US" sz="2100" dirty="0"/>
          </a:p>
        </p:txBody>
      </p:sp>
      <p:sp>
        <p:nvSpPr>
          <p:cNvPr id="12" name="Text 8"/>
          <p:cNvSpPr/>
          <p:nvPr/>
        </p:nvSpPr>
        <p:spPr>
          <a:xfrm>
            <a:off x="6726784" y="4041648"/>
            <a:ext cx="437677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 vírus, germes e bactérias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onde o olho não vê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sem agredir o material tratado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DCE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só produto para pele, objetos e ambientes</a:t>
            </a:r>
            <a:endParaRPr lang="en-US" sz="13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Proteção sem os efeitos colaterais</a:t>
            </a:r>
            <a:endParaRPr lang="en-US" sz="3400" dirty="0"/>
          </a:p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química agressiva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395728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melhor é saber que você está se protegendo sem o uso de substâncias que irritam e causam alergias — com um produto que segue normas rígidas de qualidade.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401568"/>
            <a:ext cx="603504" cy="603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27048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substâncias irritantes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527048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agentes agressivos que ressecam, ardem ou desencadeiam reações alérgicas.</a:t>
            </a:r>
            <a:endParaRPr lang="en-US" sz="125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5888" y="3401568"/>
            <a:ext cx="603504" cy="60350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257136" y="33832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Normas rígidas de qualidade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7257136" y="37490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controlada e padronizada, do ativo ao envase, com rastreabilidade.</a:t>
            </a:r>
            <a:endParaRPr lang="en-US" sz="12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773168"/>
            <a:ext cx="603504" cy="60350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527048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Seguro em áreas sensíveis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1527048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ser aplicado no rosto, ao redor dos olhos e nas mãos — inclusive nas dos bebês.</a:t>
            </a:r>
            <a:endParaRPr lang="en-US" sz="125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888" y="4773168"/>
            <a:ext cx="603504" cy="60350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257136" y="4754880"/>
            <a:ext cx="424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agride superfícies</a:t>
            </a:r>
            <a:endParaRPr lang="en-US" sz="1500" dirty="0"/>
          </a:p>
        </p:txBody>
      </p:sp>
      <p:sp>
        <p:nvSpPr>
          <p:cNvPr id="16" name="Text 10"/>
          <p:cNvSpPr/>
          <p:nvPr/>
        </p:nvSpPr>
        <p:spPr>
          <a:xfrm>
            <a:off x="7257136" y="5120640"/>
            <a:ext cx="4248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sem manchar, corroer ou comprometer o material tratado.</a:t>
            </a:r>
            <a:endParaRPr lang="en-US" sz="125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650"/>
                            </p:stCondLst>
                            <p:childTnLst>
                              <p:par>
                                <p:cTn id="4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2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780"/>
                            </p:stCondLst>
                            <p:childTnLst>
                              <p:par>
                                <p:cTn id="5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023360"/>
            <a:ext cx="4206240" cy="4206240"/>
          </a:xfrm>
          <a:prstGeom prst="ellipse">
            <a:avLst/>
          </a:prstGeom>
          <a:solidFill>
            <a:srgbClr val="17418C">
              <a:alpha val="12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Alto poder de desinfecção comprovado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85800" y="1874520"/>
            <a:ext cx="8595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principal diferencial: um ativo orgânico com desempenho de desinfetante profissional contra os agentes que mais preocupam.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17356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3246120"/>
            <a:ext cx="603504" cy="60350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01368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Vírus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1088136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88136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H1N1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1088136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88136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H5N1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1088136" y="5065776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88136" y="5065776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SARS-CoV-2 (Covid-19)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24448" y="2926080"/>
            <a:ext cx="5181448" cy="2743200"/>
          </a:xfrm>
          <a:prstGeom prst="roundRect">
            <a:avLst>
              <a:gd name="adj" fmla="val 3333"/>
            </a:avLst>
          </a:prstGeom>
          <a:solidFill>
            <a:srgbClr val="17356E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496" y="3246120"/>
            <a:ext cx="603504" cy="60350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7440016" y="3246120"/>
            <a:ext cx="3200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Bactérias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6726784" y="4041648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726784" y="4041648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Salmonella enterica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726784" y="4553712"/>
            <a:ext cx="4376776" cy="420624"/>
          </a:xfrm>
          <a:prstGeom prst="roundRect">
            <a:avLst>
              <a:gd name="adj" fmla="val 43478"/>
            </a:avLst>
          </a:prstGeom>
          <a:solidFill>
            <a:srgbClr val="0C2259">
              <a:alpha val="0"/>
            </a:srgbClr>
          </a:solidFill>
          <a:ln w="12700">
            <a:solidFill>
              <a:srgbClr val="3358A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726784" y="4553712"/>
            <a:ext cx="43767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Escherichia coli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685800" y="56875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CB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comprovada contra vírus envelopados e bactérias de alta relevância sanitária.</a:t>
            </a:r>
            <a:endParaRPr lang="en-US" sz="1300" dirty="0"/>
          </a:p>
        </p:txBody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20"/>
                            </p:stCondLst>
                            <p:childTnLst>
                              <p:par>
                                <p:cTn id="2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650"/>
                            </p:stCondLst>
                            <p:childTnLst>
                              <p:par>
                                <p:cTn id="3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780"/>
                            </p:stCondLst>
                            <p:childTnLst>
                              <p:par>
                                <p:cTn id="4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910"/>
                            </p:stCondLst>
                            <p:childTnLst>
                              <p:par>
                                <p:cTn id="5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1040"/>
                            </p:stCondLst>
                            <p:childTnLst>
                              <p:par>
                                <p:cTn id="6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1170"/>
                            </p:stCondLst>
                            <p:childTnLst>
                              <p:par>
                                <p:cTn id="7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4" fill="hold">
                            <p:stCondLst>
                              <p:cond delay="1300"/>
                            </p:stCondLst>
                            <p:childTnLst>
                              <p:par>
                                <p:cTn id="8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8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1430"/>
                            </p:stCondLst>
                            <p:childTnLst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APLICAÇÕES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ácido hipocloroso já é protagonista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9509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Utilizado no mercado da beleza, hoje é protagonista nas rotinas de skincare, um segredo dos dermatologistas — e virou braço direito das empresas que priorizam produtos de qualidade.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3328416"/>
            <a:ext cx="566928" cy="566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 da beleza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96696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 nas rotinas de skincare e na estética profissional.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70834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1730" y="3328416"/>
            <a:ext cx="566928" cy="5669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81730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Segredo dos dermatologistas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781730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Higieniza a pele sem atacar a barreira cutânea.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255868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6764" y="3328416"/>
            <a:ext cx="566928" cy="56692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66764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e ambientes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566764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Braço direito de negócios que priorizam qualidade.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9040901" y="3017520"/>
            <a:ext cx="2464994" cy="2788920"/>
          </a:xfrm>
          <a:prstGeom prst="roundRect">
            <a:avLst>
              <a:gd name="adj" fmla="val 3710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1797" y="3328416"/>
            <a:ext cx="566928" cy="56692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351797" y="4078224"/>
            <a:ext cx="184320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Cuidado diário em casa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9351797" y="4700016"/>
            <a:ext cx="1843202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Mãos, objetos, brinquedos e superfícies da família.</a:t>
            </a:r>
            <a:endParaRPr lang="en-US" sz="1250" dirty="0"/>
          </a:p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MERCADO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empresas práticas já fizeram a troca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47088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 encontraram nessa higienização uma alternativa para manter tudo limpo e desinfetado, sem receio de agredir as superfícies.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3017520"/>
            <a:ext cx="530352" cy="5303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78408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rápida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978408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imediata, sem etapas extras.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470834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442" y="3017520"/>
            <a:ext cx="530352" cy="53035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763442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segura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3763442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risco para quem aplica e convive.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255868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8476" y="3017520"/>
            <a:ext cx="530352" cy="530352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548476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inteligente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6548476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produto para pele, objetos e ambientes.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9040901" y="2788920"/>
            <a:ext cx="2464994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DDE4F3"/>
            </a:solidFill>
            <a:prstDash val="solid"/>
          </a:ln>
          <a:effectLst>
            <a:outerShdw sx="100000" sy="100000" kx="0" ky="0" algn="bl" rotWithShape="0" blurRad="177800" dist="38100" dir="5400000">
              <a:srgbClr val="0C2259">
                <a:alpha val="10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3509" y="3017520"/>
            <a:ext cx="530352" cy="53035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333509" y="3639312"/>
            <a:ext cx="18797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eficaz</a:t>
            </a:r>
            <a:endParaRPr lang="en-US" sz="1650" dirty="0"/>
          </a:p>
        </p:txBody>
      </p:sp>
      <p:sp>
        <p:nvSpPr>
          <p:cNvPr id="20" name="Text 14"/>
          <p:cNvSpPr/>
          <p:nvPr/>
        </p:nvSpPr>
        <p:spPr>
          <a:xfrm>
            <a:off x="9333509" y="3950208"/>
            <a:ext cx="187977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Desinfecção real, não apenas limpeza.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85800" y="4937760"/>
            <a:ext cx="10820095" cy="1060704"/>
          </a:xfrm>
          <a:prstGeom prst="roundRect">
            <a:avLst>
              <a:gd name="adj" fmla="val 8621"/>
            </a:avLst>
          </a:prstGeom>
          <a:solidFill>
            <a:srgbClr val="0C2259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5184648"/>
            <a:ext cx="566928" cy="566928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783080" y="4937760"/>
            <a:ext cx="9357055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4CB1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diferencial: </a:t>
            </a:r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ativo orgânico com poder de desinfetante — limpa, higieniza e desinfeta sem receio de agredir as superfícies.</a:t>
            </a:r>
            <a:endParaRPr lang="en-US" sz="14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5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5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58368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CATÁLOGO TÉCNICO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950976"/>
            <a:ext cx="10820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944"/>
              </a:lnSpc>
              <a:buNone/>
            </a:pPr>
            <a:r>
              <a:rPr lang="en-US" sz="3400" b="1" spc="-40" kern="0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ficha técnica em quatro eixos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8961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você entender a tecnologia por trás do ácido hipocloroso, o catálogo técnico reúne as informações essenciais do produto.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4984" y="3209544"/>
            <a:ext cx="603504" cy="6035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46504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ativo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746504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Ácido hipocloroso (HClO), em concentração definida na ficha técnica do produto.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2880360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3632" y="3209544"/>
            <a:ext cx="603504" cy="60350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85152" y="3118104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ação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7385152" y="3447288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tempo o produto leva para neutralizar os microrganismos após a aplicação.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85800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4984" y="4690872"/>
            <a:ext cx="603504" cy="60350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746504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Duração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746504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quanto tempo a proteção permanece ativa e qual a validade após a abertura.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6324448" y="4361688"/>
            <a:ext cx="5181448" cy="1261872"/>
          </a:xfrm>
          <a:prstGeom prst="roundRect">
            <a:avLst>
              <a:gd name="adj" fmla="val 7246"/>
            </a:avLst>
          </a:prstGeom>
          <a:solidFill>
            <a:srgbClr val="F3F6FB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3632" y="4690872"/>
            <a:ext cx="603504" cy="60350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385152" y="4599432"/>
            <a:ext cx="3809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1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Modo de aplicar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7385152" y="4928616"/>
            <a:ext cx="38098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 onde aplicar em pele, mãos, objetos, tecidos e superfícies.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685800" y="5724144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Preencher concentração, tempos e instruções com os dados da ficha técnica oficial do produto.</a:t>
            </a:r>
            <a:endParaRPr lang="en-US" sz="105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741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30"/>
                            </p:stCondLst>
                            <p:childTnLst>
                              <p:par>
                                <p:cTn id="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60"/>
                            </p:stCondLst>
                            <p:childTnLst>
                              <p:par>
                                <p:cTn id="1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90"/>
                            </p:stCondLst>
                            <p:childTnLst>
                              <p:par>
                                <p:cTn id="19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520"/>
                            </p:stCondLst>
                            <p:childTnLst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2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2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5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650"/>
                            </p:stCondLst>
                            <p:childTnLst>
                              <p:par>
                                <p:cTn id="53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2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52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2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5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2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5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2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52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780"/>
                            </p:stCondLst>
                            <p:childTnLst>
                              <p:par>
                                <p:cTn id="7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52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5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52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5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52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5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1" fill="hold">
                            <p:stCondLst>
                              <p:cond delay="910"/>
                            </p:stCondLst>
                            <p:childTnLst>
                              <p:par>
                                <p:cTn id="8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2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0" dur="5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C225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1005840"/>
            <a:ext cx="4937760" cy="4937760"/>
          </a:xfrm>
          <a:prstGeom prst="ellipse">
            <a:avLst/>
          </a:prstGeom>
          <a:solidFill>
            <a:srgbClr val="17418C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372600" y="1965960"/>
            <a:ext cx="3017520" cy="3017520"/>
          </a:xfrm>
          <a:prstGeom prst="ellipse">
            <a:avLst/>
          </a:prstGeom>
          <a:solidFill>
            <a:srgbClr val="4CB152">
              <a:alpha val="14000"/>
            </a:srgbClr>
          </a:solidFill>
          <a:ln w="15875">
            <a:solidFill>
              <a:srgbClr val="2E5FB0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04704" y="2798064"/>
            <a:ext cx="1353312" cy="13533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1371600"/>
            <a:ext cx="108200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60" kern="0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85800" y="1755648"/>
            <a:ext cx="7406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Higienizar com segurança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spc="-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deixou de ser uma escolha difícil.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85800" y="3822192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C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aliado poderoso no cuidado diário: para a sua pele, para a sua casa e para o seu negócio.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85800" y="4681728"/>
            <a:ext cx="6766560" cy="969264"/>
          </a:xfrm>
          <a:prstGeom prst="roundRect">
            <a:avLst>
              <a:gd name="adj" fmla="val 9434"/>
            </a:avLst>
          </a:prstGeom>
          <a:solidFill>
            <a:srgbClr val="17356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4882896"/>
            <a:ext cx="566928" cy="5669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728216" y="4681728"/>
            <a:ext cx="54864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Solicite o guia completo e o catálogo técnico.</a:t>
            </a:r>
            <a:endParaRPr lang="en-US" sz="155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188316"/>
            <a:ext cx="1234440" cy="42279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91495" y="627278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CB1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2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2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2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2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30"/>
                            </p:stCondLst>
                            <p:childTnLst>
                              <p:par>
                                <p:cTn id="1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2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60"/>
                            </p:stCondLst>
                            <p:childTnLst>
                              <p:par>
                                <p:cTn id="2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90"/>
                            </p:stCondLst>
                            <p:childTnLst>
                              <p:par>
                                <p:cTn id="2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20"/>
                            </p:stCondLst>
                            <p:childTnLst>
                              <p:par>
                                <p:cTn id="32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2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5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2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Bandeira Soluções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Ácido Hipocloroso (HClO) — Guia Técnico e Comercial</dc:title>
  <dc:subject>PptxGenJS Presentation</dc:subject>
  <dc:creator>Bandeira Soluções</dc:creator>
  <cp:lastModifiedBy>Bandeira Soluções</cp:lastModifiedBy>
  <cp:revision>1</cp:revision>
  <dcterms:created xsi:type="dcterms:W3CDTF">2026-08-17T19:51:21Z</dcterms:created>
  <dcterms:modified xsi:type="dcterms:W3CDTF">2026-08-17T19:51:21Z</dcterms:modified>
</cp:coreProperties>
</file>