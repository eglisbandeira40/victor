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Posicionar o HClO como um desinfetante de uso geral, seguro e eficaz — o único antisséptico que respeita a pele e 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apresentação. Reforçar que o guia foi criado para gerar confiança com informação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Definição objetiva. O ponto central: eficácia de desinfetante com segurança de produto de cuidado pessoal.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de confiança: não é uma química estranha ao corpo — é a molécula que o próprio organismo produz.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os dois conceitos é o que justifica a troca de produto. Higienização remove; desinfecção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Quebra de objeção: segurança é o principal motivo de troca por quem tem criança, pet ou pele sensível.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prova. Citar os agentes pelo nome técnico transmite credibilidade em reuniões B2B.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social por segmento. Ajustar a ordem conforme o público da reunião (B2C beleza ou B2B operação).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comercial. Usar quando o interlocutor for gestor de operação, limpeza ou compras.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Substituir os textos descritivos pelos valores reais da ficha técnica antes de enviar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chamada para ação. Inserir aqui os dados de contato da empresa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502920"/>
            <a:ext cx="5852160" cy="5852160"/>
          </a:xfrm>
          <a:prstGeom prst="ellipse">
            <a:avLst/>
          </a:prstGeom>
          <a:solidFill>
            <a:srgbClr val="17418C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92440" y="1280160"/>
            <a:ext cx="4297680" cy="4297680"/>
          </a:xfrm>
          <a:prstGeom prst="ellipse">
            <a:avLst/>
          </a:prstGeom>
          <a:solidFill>
            <a:srgbClr val="17418C">
              <a:alpha val="26000"/>
            </a:srgbClr>
          </a:solidFill>
          <a:ln w="15875">
            <a:solidFill>
              <a:srgbClr val="2E5FB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2194560"/>
            <a:ext cx="2468880" cy="2468880"/>
          </a:xfrm>
          <a:prstGeom prst="ellipse">
            <a:avLst/>
          </a:prstGeom>
          <a:solidFill>
            <a:srgbClr val="4CB152">
              <a:alpha val="12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2816352"/>
            <a:ext cx="1225296" cy="1225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3444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4CB152"/>
          </a:solidFill>
          <a:ln w="12700">
            <a:solidFill>
              <a:srgbClr val="4CB15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234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11096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 TÉCNICO E COMERCIAL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1847088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Ácido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Hipocloroso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685800" y="404164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desinfetante de uso geral que higieniza com alto poder de ação — e ainda respeita a pele, os olhos e as superfícies.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86584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86584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Eficaz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087368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87368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"/>
                            </p:stCondLst>
                            <p:childTnLst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"/>
                            </p:stCondLst>
                            <p:childTnLst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80"/>
                            </p:stCondLst>
                            <p:childTnLst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10"/>
                            </p:stCondLst>
                            <p:childTnLst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encontrar neste guia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material feito para ajudar você a entender a tecnologia por trás do ácido hipocloroso — e a confiar nesse aliado no cuidado diário.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52928"/>
            <a:ext cx="548640" cy="548640"/>
          </a:xfrm>
          <a:prstGeom prst="ellipse">
            <a:avLst/>
          </a:prstGeom>
          <a:solidFill>
            <a:srgbClr val="17418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72184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 ácido hipocloroso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72184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Definição, composição e para que serve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15888" y="2852928"/>
            <a:ext cx="548640" cy="548640"/>
          </a:xfrm>
          <a:prstGeom prst="ellipse">
            <a:avLst/>
          </a:prstGeom>
          <a:solidFill>
            <a:srgbClr val="17418C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202272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defesa que o corpo já produz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2272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natural da molécula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968496"/>
            <a:ext cx="548640" cy="548640"/>
          </a:xfrm>
          <a:prstGeom prst="ellipse">
            <a:avLst/>
          </a:prstGeom>
          <a:solidFill>
            <a:srgbClr val="17418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72184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72184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muda o resultado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15888" y="3968496"/>
            <a:ext cx="548640" cy="548640"/>
          </a:xfrm>
          <a:prstGeom prst="ellipse">
            <a:avLst/>
          </a:prstGeom>
          <a:solidFill>
            <a:srgbClr val="17418C"/>
          </a:solidFill>
          <a:ln/>
        </p:spPr>
      </p:sp>
      <p:sp>
        <p:nvSpPr>
          <p:cNvPr id="18" name="Text 16"/>
          <p:cNvSpPr/>
          <p:nvPr/>
        </p:nvSpPr>
        <p:spPr>
          <a:xfrm>
            <a:off x="6415888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02272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para o uso diário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02272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Pele, olhos, bebês e superfícies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17418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72184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Espectro de ação comprovado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72184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combatidos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15888" y="5084064"/>
            <a:ext cx="548640" cy="548640"/>
          </a:xfrm>
          <a:prstGeom prst="ellipse">
            <a:avLst/>
          </a:prstGeom>
          <a:solidFill>
            <a:srgbClr val="17418C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02272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 e aplicações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02272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tempo de ação, duração e uso</a:t>
            </a:r>
            <a:endParaRPr lang="en-US" sz="12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desinfetante de uso geral — seguro e eficaz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HClO é o único antisséptico que respeita a pele e os olhos. Combate germes, vírus e bactérias sem atacar a superfície tratada — por isso é indicado até para higienizar as mãos dos bebês desde o nascimento.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Desinfecção de alto poder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contra germes, vírus e bactérias em superfícies, objetos e pele — muito além da higienização comum.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4418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25314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85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25314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Respeita pele e olhos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25314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irrita e não resseca. Pode ser usado no rosto, nas mãos e ao redor dos olhos, todos os dias.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43037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3933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003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53933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desde o nascimento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53933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para higienizar as mãos dos bebês desde os primeiros dias de vida.</a:t>
            </a:r>
            <a:endParaRPr lang="en-US" sz="12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17418C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tecnologia que o seu corpo já usa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nome que quase ninguém conhece — e uma substância mais comum do que se imagina. O ácido hipocloroso é produzido pelo nosso próprio organismo quando entramos em estado de alerta contra vírus e bactérias.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3401568"/>
            <a:ext cx="475488" cy="475488"/>
          </a:xfrm>
          <a:prstGeom prst="ellipse">
            <a:avLst/>
          </a:prstGeom>
          <a:solidFill>
            <a:srgbClr val="4CB152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2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Ameaça detectada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entram em contato com o organismo.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0834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sp>
        <p:nvSpPr>
          <p:cNvPr id="12" name="Shape 10"/>
          <p:cNvSpPr/>
          <p:nvPr/>
        </p:nvSpPr>
        <p:spPr>
          <a:xfrm>
            <a:off x="3763442" y="3401568"/>
            <a:ext cx="475488" cy="475488"/>
          </a:xfrm>
          <a:prstGeom prst="ellipse">
            <a:avLst/>
          </a:prstGeom>
          <a:solidFill>
            <a:srgbClr val="4CB152"/>
          </a:solidFill>
          <a:ln/>
        </p:spPr>
      </p:sp>
      <p:sp>
        <p:nvSpPr>
          <p:cNvPr id="13" name="Text 11"/>
          <p:cNvSpPr/>
          <p:nvPr/>
        </p:nvSpPr>
        <p:spPr>
          <a:xfrm>
            <a:off x="3763442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2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63442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alerta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63442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 defesa é acionado imediatamente.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48476" y="3401568"/>
            <a:ext cx="475488" cy="475488"/>
          </a:xfrm>
          <a:prstGeom prst="ellipse">
            <a:avLst/>
          </a:prstGeom>
          <a:solidFill>
            <a:srgbClr val="4CB1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48476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2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8476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HClO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48476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células de defesa liberam o ácido hipocloroso.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40901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333509" y="3401568"/>
            <a:ext cx="475488" cy="475488"/>
          </a:xfrm>
          <a:prstGeom prst="ellipse">
            <a:avLst/>
          </a:prstGeom>
          <a:solidFill>
            <a:srgbClr val="4CB152"/>
          </a:solidFill>
          <a:ln/>
        </p:spPr>
      </p:sp>
      <p:sp>
        <p:nvSpPr>
          <p:cNvPr id="23" name="Text 21"/>
          <p:cNvSpPr/>
          <p:nvPr/>
        </p:nvSpPr>
        <p:spPr>
          <a:xfrm>
            <a:off x="9333509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2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33509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Neutralização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33509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microrganismos são eliminados sem agredir o tecido.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CB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molécula da nossa defesa natural — agora estabilizada e pronta para o uso diário.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Vivemos em estado de alerta e, quando o assunto é higiene, limpar já não basta. O ácido hipocloroso age em outro nível: mais que higienizar, ele desinfeta.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9848" y="3218688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919" y="3371759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88136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 sujeira aparente da superfície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resíduos, gordura e poeira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garante a eliminação de microrganismos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um segundo produto para desinfetar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17418C"/>
          </a:solidFill>
          <a:ln/>
          <a:effectLst>
            <a:outerShdw sx="100000" sy="100000" kx="0" ky="0" algn="bl" rotWithShape="0" blurRad="177800" dist="38100" dir="5400000">
              <a:srgbClr val="0C2259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08496" y="3218688"/>
            <a:ext cx="566928" cy="566928"/>
          </a:xfrm>
          <a:prstGeom prst="ellipse">
            <a:avLst/>
          </a:prstGeom>
          <a:solidFill>
            <a:srgbClr val="4CB15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566" y="337175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21728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Desinfetar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726784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vírus, germes e bactérias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onde o olho não vê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sem agredir o material tratado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só produto para pele, objetos e ambientes</a:t>
            </a:r>
            <a:endParaRPr lang="en-US" sz="13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sem os efeitos colaterais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química agressiva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é saber que você está se protegendo sem o uso de substâncias que irritam e causam alergias — com um produto que segue normas rígidas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401568"/>
            <a:ext cx="603504" cy="603504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6" y="356451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substâncias irritantes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27048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agentes agressivos que ressecam, ardem ou desencadeiam reações alérgicas.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5888" y="3401568"/>
            <a:ext cx="603504" cy="603504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834" y="3564514"/>
            <a:ext cx="277612" cy="2776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57136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rígidas de qualidade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257136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controlada e padronizada, do ativo ao envase, com rastreabilidade.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4773168"/>
            <a:ext cx="603504" cy="603504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" y="4936114"/>
            <a:ext cx="277612" cy="2776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27048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em áreas sensíveis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527048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aplicado no rosto, ao redor dos olhos e nas mãos — inclusive nas dos bebês.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15888" y="4773168"/>
            <a:ext cx="603504" cy="603504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834" y="4936114"/>
            <a:ext cx="277612" cy="2776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57136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agride superfícies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257136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sem manchar, corroer ou comprometer o material tratado.</a:t>
            </a:r>
            <a:endParaRPr lang="en-US" sz="12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7418C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poder de desinfecção comprovado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principal diferencial: um ativo orgânico com desempenho de desinfetante profissional contra os agentes que mais preocupam.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17356E"/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" y="3246120"/>
            <a:ext cx="603504" cy="603504"/>
          </a:xfrm>
          <a:prstGeom prst="ellipse">
            <a:avLst/>
          </a:prstGeom>
          <a:solidFill>
            <a:srgbClr val="4CB15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2794" y="3409066"/>
            <a:ext cx="277612" cy="2776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01368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Vírus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088136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88136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88136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88136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H5N1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88136" y="5065776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88136" y="5065776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SARS-CoV-2 (Covid-19)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24448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17356E"/>
          </a:solidFill>
          <a:ln/>
        </p:spPr>
      </p:sp>
      <p:sp>
        <p:nvSpPr>
          <p:cNvPr id="17" name="Shape 14"/>
          <p:cNvSpPr/>
          <p:nvPr/>
        </p:nvSpPr>
        <p:spPr>
          <a:xfrm>
            <a:off x="6708496" y="3246120"/>
            <a:ext cx="603504" cy="603504"/>
          </a:xfrm>
          <a:prstGeom prst="ellipse">
            <a:avLst/>
          </a:prstGeom>
          <a:solidFill>
            <a:srgbClr val="4CB152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442" y="3409066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40016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Bactérias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6726784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26784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Salmonella enterica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726784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726784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Escherichia coli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85800" y="56875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CB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comprovada contra vírus envelopados e bactérias de alta relevância sanitária.</a:t>
            </a:r>
            <a:endParaRPr lang="en-US" sz="13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50"/>
                            </p:stCondLst>
                            <p:childTnLst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80"/>
                            </p:stCondLst>
                            <p:childTnLst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910"/>
                            </p:stCondLst>
                            <p:childTnLst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40"/>
                            </p:stCondLst>
                            <p:childTnLst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170"/>
                            </p:stCondLst>
                            <p:childTnLst>
                              <p:par>
                                <p:cTn id="8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300"/>
                            </p:stCondLst>
                            <p:childTnLst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43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ácido hipocloroso já é protagonista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 no mercado da beleza, hoje é protagonista nas rotinas de skincare, um segredo dos dermatologistas — e virou braço direito das empresas que priorizam produtos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da beleza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nas rotinas de skincare e na estética profissional.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70834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81730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800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1730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Segredo dos dermatologistas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781730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a pele sem atacar a barreira cutânea.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255868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66764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34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66764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e ambientes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566764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Braço direito de negócios que priorizam qualidade.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40901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51797" y="3328416"/>
            <a:ext cx="566928" cy="566928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4868" y="3481487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51797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diário em casa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1797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Mãos, objetos, brinquedos e superfícies da família.</a:t>
            </a:r>
            <a:endParaRPr lang="en-US" sz="125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empresas práticas já fizeram a troca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 encontraram nessa higienização uma alternativa para manter tudo limpo e desinfetado, sem receio de agredir as superfícies.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3017520"/>
            <a:ext cx="530352" cy="530352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603" y="3160715"/>
            <a:ext cx="243962" cy="243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78408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imediata, sem etapas extras.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70834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63442" y="3017520"/>
            <a:ext cx="530352" cy="530352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637" y="3160715"/>
            <a:ext cx="243962" cy="2439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3442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segura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3763442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risco para quem aplica e convive.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55868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48476" y="3017520"/>
            <a:ext cx="530352" cy="530352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671" y="3160715"/>
            <a:ext cx="243962" cy="2439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48476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inteligente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6548476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produto para pele, objetos e ambientes.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40901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33509" y="3017520"/>
            <a:ext cx="530352" cy="530352"/>
          </a:xfrm>
          <a:prstGeom prst="ellipse">
            <a:avLst/>
          </a:prstGeom>
          <a:solidFill>
            <a:srgbClr val="E4EAF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704" y="3160715"/>
            <a:ext cx="243962" cy="2439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3509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eficaz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9333509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Desinfecção real, não apenas limpeza.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85800" y="4937760"/>
            <a:ext cx="10820095" cy="1060704"/>
          </a:xfrm>
          <a:prstGeom prst="roundRect">
            <a:avLst>
              <a:gd name="adj" fmla="val 8621"/>
            </a:avLst>
          </a:prstGeom>
          <a:solidFill>
            <a:srgbClr val="0C2259"/>
          </a:solidFill>
          <a:ln/>
        </p:spPr>
      </p:sp>
      <p:sp>
        <p:nvSpPr>
          <p:cNvPr id="26" name="Shape 20"/>
          <p:cNvSpPr/>
          <p:nvPr/>
        </p:nvSpPr>
        <p:spPr>
          <a:xfrm>
            <a:off x="1051560" y="5184648"/>
            <a:ext cx="566928" cy="566928"/>
          </a:xfrm>
          <a:prstGeom prst="ellipse">
            <a:avLst/>
          </a:prstGeom>
          <a:solidFill>
            <a:srgbClr val="4CB152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31" y="5337719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83080" y="4937760"/>
            <a:ext cx="935705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4CB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ativo orgânico com poder de desinfetante — limpa, higieniza e desinfeta sem receio de agredir as superfícies.</a:t>
            </a:r>
            <a:endParaRPr lang="en-US" sz="14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ficha técnica em quatro eixos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você entender a tecnologia por trás do ácido hipocloroso, o catálogo técnico reúne as informações essenciais do produto.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30" y="3372490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46504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ativo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746504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(HClO), em concentração definida na ficha técnica do produto.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6653632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578" y="3372490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85152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ação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7385152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tempo o produto leva para neutralizar os microrganismos após a aplicação.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85800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sp>
        <p:nvSpPr>
          <p:cNvPr id="16" name="Shape 12"/>
          <p:cNvSpPr/>
          <p:nvPr/>
        </p:nvSpPr>
        <p:spPr>
          <a:xfrm>
            <a:off x="1014984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930" y="4853818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46504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1746504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quanto tempo a proteção permanece ativa e qual a validade após a abertura.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324448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sp>
        <p:nvSpPr>
          <p:cNvPr id="21" name="Shape 16"/>
          <p:cNvSpPr/>
          <p:nvPr/>
        </p:nvSpPr>
        <p:spPr>
          <a:xfrm>
            <a:off x="6653632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578" y="4853818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85152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de aplicar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7385152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 onde aplicar em pele, mãos, objetos, tecidos e superfícies.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" y="572414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concentração, tempos e instruções com os dados da ficha técnica oficial do produto.</a:t>
            </a:r>
            <a:endParaRPr lang="en-US" sz="10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005840"/>
            <a:ext cx="4937760" cy="4937760"/>
          </a:xfrm>
          <a:prstGeom prst="ellipse">
            <a:avLst/>
          </a:prstGeom>
          <a:solidFill>
            <a:srgbClr val="17418C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72600" y="1965960"/>
            <a:ext cx="3017520" cy="3017520"/>
          </a:xfrm>
          <a:prstGeom prst="ellipse">
            <a:avLst/>
          </a:prstGeom>
          <a:solidFill>
            <a:srgbClr val="4CB152">
              <a:alpha val="14000"/>
            </a:srgbClr>
          </a:solidFill>
          <a:ln w="15875">
            <a:solidFill>
              <a:srgbClr val="2E5F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4" y="2798064"/>
            <a:ext cx="1353312" cy="1353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13716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85800" y="1755648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com segurança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deixou de ser uma escolha difícil.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382219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aliado poderoso no cuidado diário: para a sua pele, para a sua casa e para o seu negócio.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4681728"/>
            <a:ext cx="6766560" cy="969264"/>
          </a:xfrm>
          <a:prstGeom prst="roundRect">
            <a:avLst>
              <a:gd name="adj" fmla="val 9434"/>
            </a:avLst>
          </a:prstGeom>
          <a:solidFill>
            <a:srgbClr val="17356E"/>
          </a:solidFill>
          <a:ln/>
        </p:spPr>
      </p:sp>
      <p:sp>
        <p:nvSpPr>
          <p:cNvPr id="9" name="Shape 6"/>
          <p:cNvSpPr/>
          <p:nvPr/>
        </p:nvSpPr>
        <p:spPr>
          <a:xfrm>
            <a:off x="996696" y="4882896"/>
            <a:ext cx="566928" cy="566928"/>
          </a:xfrm>
          <a:prstGeom prst="ellipse">
            <a:avLst/>
          </a:prstGeom>
          <a:solidFill>
            <a:srgbClr val="4CB15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767" y="5035967"/>
            <a:ext cx="260787" cy="26078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28216" y="4681728"/>
            <a:ext cx="5486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o guia completo e o catálogo técnico.</a:t>
            </a:r>
            <a:endParaRPr lang="en-US" sz="15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30"/>
                            </p:stCondLst>
                            <p:childTnLst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"/>
                            </p:stCondLst>
                            <p:childTnLst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90"/>
                            </p:stCondLst>
                            <p:childTnLst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0"/>
                            </p:stCondLst>
                            <p:childTnLst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Bandeira Soluções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Ácido Hipocloroso (HClO) — Guia Técnico e Comercial</dc:title>
  <dc:subject>PptxGenJS Presentation</dc:subject>
  <dc:creator>Bandeira Soluções</dc:creator>
  <cp:lastModifiedBy>Bandeira Soluções</cp:lastModifiedBy>
  <cp:revision>1</cp:revision>
  <dcterms:created xsi:type="dcterms:W3CDTF">2026-08-17T19:37:44Z</dcterms:created>
  <dcterms:modified xsi:type="dcterms:W3CDTF">2026-08-17T19:37:44Z</dcterms:modified>
</cp:coreProperties>
</file>