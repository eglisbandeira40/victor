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Posicionar o HClO como um desinfetante de uso geral, seguro e eficaz — o único antisséptico que respeita a pele e os olhos.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da apresentação. Reforçar que o guia foi criado para gerar confiança com informação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Definição objetiva. O ponto central: eficácia de desinfetante com segurança de produto de cuidado pessoal.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Argumento de confiança: não é uma química estranha ao corpo — é a molécula que o próprio organismo produz.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Diferenciar os dois conceitos é o que justifica a troca de produto. Higienização remove; desinfecção elimina.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Quebra de objeção: segurança é o principal motivo de troca por quem tem criança, pet ou pele sensível.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prova. Citar os agentes pelo nome técnico transmite credibilidade em reuniões B2B.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Prova social por segmento. Ajustar a ordem conforme o público da reunião (B2C beleza ou B2B operação).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comercial. Usar quando o interlocutor for gestor de operação, limpeza ou compras.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Substituir os textos descritivos pelos valores reais da ficha técnica antes de enviar ao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e chamada para ação. Inserir aqui os dados de contato da empresa antes da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502920"/>
            <a:ext cx="5852160" cy="5852160"/>
          </a:xfrm>
          <a:prstGeom prst="ellipse">
            <a:avLst/>
          </a:prstGeom>
          <a:solidFill>
            <a:srgbClr val="02809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92440" y="1280160"/>
            <a:ext cx="4297680" cy="4297680"/>
          </a:xfrm>
          <a:prstGeom prst="ellipse">
            <a:avLst/>
          </a:prstGeom>
          <a:solidFill>
            <a:srgbClr val="028090">
              <a:alpha val="26000"/>
            </a:srgbClr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06840" y="2194560"/>
            <a:ext cx="2468880" cy="246888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2816352"/>
            <a:ext cx="1225296" cy="12252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2344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234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HClO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911096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 TÉCNICO E COMERCIAL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85800" y="1847088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00"/>
              </a:lnSpc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Ácido</a:t>
            </a:r>
            <a:endParaRPr lang="en-US" sz="54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Hipocloroso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685800" y="4041648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BC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desinfetante de uso geral que higieniza com alto poder de ação — e ainda respeita a pele, os olhos e as superfícies.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85800" y="5230368"/>
            <a:ext cx="1554480" cy="402336"/>
          </a:xfrm>
          <a:prstGeom prst="roundRect">
            <a:avLst>
              <a:gd name="adj" fmla="val 45455"/>
            </a:avLst>
          </a:prstGeom>
          <a:solidFill>
            <a:srgbClr val="06282F">
              <a:alpha val="0"/>
            </a:srgbClr>
          </a:solidFill>
          <a:ln w="12700">
            <a:solidFill>
              <a:srgbClr val="2C667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52303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C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386584" y="5230368"/>
            <a:ext cx="1554480" cy="402336"/>
          </a:xfrm>
          <a:prstGeom prst="roundRect">
            <a:avLst>
              <a:gd name="adj" fmla="val 45455"/>
            </a:avLst>
          </a:prstGeom>
          <a:solidFill>
            <a:srgbClr val="06282F">
              <a:alpha val="0"/>
            </a:srgbClr>
          </a:solidFill>
          <a:ln w="12700">
            <a:solidFill>
              <a:srgbClr val="2C667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86584" y="52303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C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Eficaz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087368" y="5230368"/>
            <a:ext cx="1554480" cy="402336"/>
          </a:xfrm>
          <a:prstGeom prst="roundRect">
            <a:avLst>
              <a:gd name="adj" fmla="val 45455"/>
            </a:avLst>
          </a:prstGeom>
          <a:solidFill>
            <a:srgbClr val="06282F">
              <a:alpha val="0"/>
            </a:srgbClr>
          </a:solidFill>
          <a:ln w="12700">
            <a:solidFill>
              <a:srgbClr val="2C667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87368" y="52303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C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diário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85800" y="62727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Bandeira Soluções · Guia do Ácido Hipocloroso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50976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spc="-40" kern="0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vai encontrar neste guia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847088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material feito para ajudar você a entender a tecnologia por trás do ácido hipocloroso — e a confiar nesse aliado no cuidado diário.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85292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852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72184" y="2834640"/>
            <a:ext cx="430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o ácido hipocloroso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72184" y="3163824"/>
            <a:ext cx="430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Definição, composição e para que serve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15888" y="285292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15888" y="2852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02272" y="2834640"/>
            <a:ext cx="430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defesa que o corpo já produz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02272" y="3163824"/>
            <a:ext cx="430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origem natural da molécula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968496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968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72184" y="3950208"/>
            <a:ext cx="430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Higienizar não é desinfetar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72184" y="4279392"/>
            <a:ext cx="430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que muda o resultado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15888" y="3968496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15888" y="3968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02272" y="3950208"/>
            <a:ext cx="430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para o uso diário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02272" y="4279392"/>
            <a:ext cx="430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Pele, olhos, bebês e superfícies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5084064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084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72184" y="5065776"/>
            <a:ext cx="430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Espectro de ação comprovado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72184" y="5394960"/>
            <a:ext cx="430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Vírus e bactérias combatidos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15888" y="5084064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415888" y="5084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02272" y="5065776"/>
            <a:ext cx="430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técnico e aplicações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02272" y="5394960"/>
            <a:ext cx="430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Ativo, tempo de ação, duração e uso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5800" y="6272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Hipocloroso · Guia técnico e comercial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5914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50976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spc="-40" kern="0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desinfetante de uso geral — seguro e eficaz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HClO é o único antisséptico que respeita a pele e os olhos. Combate germes, vírus e bactérias sem atacar a superfície tratada — por isso é indicado até para higienizar as mãos dos bebês desde o nascimento.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3017520"/>
            <a:ext cx="3362858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  <a:effectLst>
            <a:outerShdw sx="100000" sy="100000" kx="0" ky="0" algn="bl" rotWithShape="0" blurRad="177800" dist="38100" dir="5400000">
              <a:srgbClr val="0B3A44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696" y="3328416"/>
            <a:ext cx="566928" cy="566928"/>
          </a:xfrm>
          <a:prstGeom prst="ellipse">
            <a:avLst/>
          </a:prstGeom>
          <a:solidFill>
            <a:srgbClr val="E7F2F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767" y="3481487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6696" y="4078224"/>
            <a:ext cx="27410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Desinfecção de alto poder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96696" y="4700016"/>
            <a:ext cx="274106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contra germes, vírus e bactérias em superfícies, objetos e pele — muito além da higienização comum.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14418" y="3017520"/>
            <a:ext cx="3362858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  <a:effectLst>
            <a:outerShdw sx="100000" sy="100000" kx="0" ky="0" algn="bl" rotWithShape="0" blurRad="177800" dist="38100" dir="5400000">
              <a:srgbClr val="0B3A44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25314" y="3328416"/>
            <a:ext cx="566928" cy="566928"/>
          </a:xfrm>
          <a:prstGeom prst="ellipse">
            <a:avLst/>
          </a:prstGeom>
          <a:solidFill>
            <a:srgbClr val="E7F2F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385" y="3481487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25314" y="4078224"/>
            <a:ext cx="27410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Respeita pele e olhos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725314" y="4700016"/>
            <a:ext cx="274106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irrita e não resseca. Pode ser usado no rosto, nas mãos e ao redor dos olhos, todos os dias.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43037" y="3017520"/>
            <a:ext cx="3362858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  <a:effectLst>
            <a:outerShdw sx="100000" sy="100000" kx="0" ky="0" algn="bl" rotWithShape="0" blurRad="177800" dist="38100" dir="5400000">
              <a:srgbClr val="0B3A44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53933" y="3328416"/>
            <a:ext cx="566928" cy="566928"/>
          </a:xfrm>
          <a:prstGeom prst="ellipse">
            <a:avLst/>
          </a:prstGeom>
          <a:solidFill>
            <a:srgbClr val="E7F2F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7003" y="3481487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3933" y="4078224"/>
            <a:ext cx="27410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Seguro desde o nascimento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53933" y="4700016"/>
            <a:ext cx="274106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 para higienizar as mãos dos bebês desde os primeiros dias de vida.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85800" y="6272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Hipocloroso · Guia técnico e comercial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05914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2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754880" cy="475488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5836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950976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tecnologia que o seu corpo já usa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nome que quase ninguém conhece — e uma substância mais comum do que se imagina. O ácido hipocloroso é produzido pelo nosso próprio organismo quando entramos em estado de alerta contra vírus e bactérias.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108960"/>
            <a:ext cx="2464994" cy="2057400"/>
          </a:xfrm>
          <a:prstGeom prst="roundRect">
            <a:avLst>
              <a:gd name="adj" fmla="val 4444"/>
            </a:avLst>
          </a:prstGeom>
          <a:solidFill>
            <a:srgbClr val="0C3A45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" y="3401568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3401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78408" y="4041648"/>
            <a:ext cx="1879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Ameaça detectada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78408" y="4370832"/>
            <a:ext cx="18797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C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Vírus e bactérias entram em contato com o organismo.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0834" y="3108960"/>
            <a:ext cx="2464994" cy="2057400"/>
          </a:xfrm>
          <a:prstGeom prst="roundRect">
            <a:avLst>
              <a:gd name="adj" fmla="val 4444"/>
            </a:avLst>
          </a:prstGeom>
          <a:solidFill>
            <a:srgbClr val="0C3A45"/>
          </a:solidFill>
          <a:ln/>
        </p:spPr>
      </p:sp>
      <p:sp>
        <p:nvSpPr>
          <p:cNvPr id="12" name="Shape 10"/>
          <p:cNvSpPr/>
          <p:nvPr/>
        </p:nvSpPr>
        <p:spPr>
          <a:xfrm>
            <a:off x="3763442" y="3401568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3763442" y="3401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63442" y="4041648"/>
            <a:ext cx="1879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alerta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63442" y="4370832"/>
            <a:ext cx="18797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C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 defesa é acionado imediatamente.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55868" y="3108960"/>
            <a:ext cx="2464994" cy="2057400"/>
          </a:xfrm>
          <a:prstGeom prst="roundRect">
            <a:avLst>
              <a:gd name="adj" fmla="val 4444"/>
            </a:avLst>
          </a:prstGeom>
          <a:solidFill>
            <a:srgbClr val="0C3A45"/>
          </a:solidFill>
          <a:ln/>
        </p:spPr>
      </p:sp>
      <p:sp>
        <p:nvSpPr>
          <p:cNvPr id="17" name="Shape 15"/>
          <p:cNvSpPr/>
          <p:nvPr/>
        </p:nvSpPr>
        <p:spPr>
          <a:xfrm>
            <a:off x="6548476" y="3401568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548476" y="3401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48476" y="4041648"/>
            <a:ext cx="1879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 de HClO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48476" y="4370832"/>
            <a:ext cx="18797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C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células de defesa liberam o ácido hipocloroso.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40901" y="3108960"/>
            <a:ext cx="2464994" cy="2057400"/>
          </a:xfrm>
          <a:prstGeom prst="roundRect">
            <a:avLst>
              <a:gd name="adj" fmla="val 4444"/>
            </a:avLst>
          </a:prstGeom>
          <a:solidFill>
            <a:srgbClr val="0C3A45"/>
          </a:solidFill>
          <a:ln/>
        </p:spPr>
      </p:sp>
      <p:sp>
        <p:nvSpPr>
          <p:cNvPr id="22" name="Shape 20"/>
          <p:cNvSpPr/>
          <p:nvPr/>
        </p:nvSpPr>
        <p:spPr>
          <a:xfrm>
            <a:off x="9333509" y="3401568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9333509" y="3401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33509" y="4041648"/>
            <a:ext cx="1879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Neutralização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33509" y="4370832"/>
            <a:ext cx="18797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C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microrganismos são eliminados sem agredir o tecido.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mesma molécula da nossa defesa natural — agora estabilizada e pronta para o uso diário.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6272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Hipocloroso · Guia técnico e comercial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5914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50976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spc="-40" kern="0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Higienizar não é desinfetar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Vivemos em estado de alerta e, quando o assunto é higiene, limpar já não basta. O ácido hipocloroso age em outro nível: mais que higienizar, ele desinfeta.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880360"/>
            <a:ext cx="5181448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  <a:effectLst>
            <a:outerShdw sx="100000" sy="100000" kx="0" ky="0" algn="bl" rotWithShape="0" blurRad="177800" dist="38100" dir="5400000">
              <a:srgbClr val="0B3A44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9848" y="3218688"/>
            <a:ext cx="566928" cy="566928"/>
          </a:xfrm>
          <a:prstGeom prst="ellipse">
            <a:avLst/>
          </a:prstGeom>
          <a:solidFill>
            <a:srgbClr val="E7F2F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2919" y="3371759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321868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Higienizar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88136" y="4041648"/>
            <a:ext cx="4376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a sujeira aparente da superfície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resíduos, gordura e poeira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garante a eliminação de microrganismos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um segundo produto para desinfetar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2880360"/>
            <a:ext cx="5181448" cy="2697480"/>
          </a:xfrm>
          <a:prstGeom prst="roundRect">
            <a:avLst>
              <a:gd name="adj" fmla="val 339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77800" dist="38100" dir="5400000">
              <a:srgbClr val="0B3A44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08496" y="3218688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566" y="3371759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21728" y="321868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Desinfetar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6726784" y="4041648"/>
            <a:ext cx="4376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vírus, germes e bactérias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onde o olho não vê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sem agredir o material tratado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só produto para pele, objetos e ambientes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85800" y="6272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Hipocloroso · Guia técnico e comercial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05914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50976"/>
            <a:ext cx="108200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spc="-40" kern="0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Proteção sem os efeitos colaterais</a:t>
            </a:r>
            <a:endParaRPr lang="en-US" sz="3400" dirty="0"/>
          </a:p>
          <a:p>
            <a:pPr indent="0" marL="0">
              <a:lnSpc>
                <a:spcPts val="3944"/>
              </a:lnSpc>
              <a:buNone/>
            </a:pPr>
            <a:r>
              <a:rPr lang="en-US" sz="3400" b="1" spc="-40" kern="0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química agressiva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395728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melhor é saber que você está se protegendo sem o uso de substâncias que irritam e causam alergias — com um produto que segue normas rígidas de qualidade.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3401568"/>
            <a:ext cx="603504" cy="603504"/>
          </a:xfrm>
          <a:prstGeom prst="ellipse">
            <a:avLst/>
          </a:prstGeom>
          <a:solidFill>
            <a:srgbClr val="E7F2F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746" y="3564514"/>
            <a:ext cx="277612" cy="27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3383280"/>
            <a:ext cx="424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substâncias irritantes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27048" y="3749040"/>
            <a:ext cx="424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agentes agressivos que ressecam, ardem ou desencadeiam reações alérgicas.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15888" y="3401568"/>
            <a:ext cx="603504" cy="603504"/>
          </a:xfrm>
          <a:prstGeom prst="ellipse">
            <a:avLst/>
          </a:prstGeom>
          <a:solidFill>
            <a:srgbClr val="E7F2F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834" y="3564514"/>
            <a:ext cx="277612" cy="2776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57136" y="3383280"/>
            <a:ext cx="424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rígidas de qualidade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257136" y="3749040"/>
            <a:ext cx="424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controlada e padronizada, do ativo ao envase, com rastreabilidade.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85800" y="4773168"/>
            <a:ext cx="603504" cy="603504"/>
          </a:xfrm>
          <a:prstGeom prst="ellipse">
            <a:avLst/>
          </a:prstGeom>
          <a:solidFill>
            <a:srgbClr val="E7F2F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46" y="4936114"/>
            <a:ext cx="277612" cy="2776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27048" y="4754880"/>
            <a:ext cx="424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Seguro em áreas sensíveis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527048" y="5120640"/>
            <a:ext cx="424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aplicado no rosto, ao redor dos olhos e nas mãos — inclusive nas dos bebês.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15888" y="4773168"/>
            <a:ext cx="603504" cy="603504"/>
          </a:xfrm>
          <a:prstGeom prst="ellipse">
            <a:avLst/>
          </a:prstGeom>
          <a:solidFill>
            <a:srgbClr val="E7F2F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834" y="4936114"/>
            <a:ext cx="277612" cy="2776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57136" y="4754880"/>
            <a:ext cx="424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agride superfícies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7257136" y="5120640"/>
            <a:ext cx="424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Higieniza sem manchar, corroer ou comprometer o material tratado.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685800" y="6272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Hipocloroso · Guia técnico e comercial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105914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2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5836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EFICÁCIA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950976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poder de desinfecção comprovado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principal diferencial: um ativo orgânico com desempenho de desinfetante profissional contra os agentes que mais preocupam.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926080"/>
            <a:ext cx="5181448" cy="2743200"/>
          </a:xfrm>
          <a:prstGeom prst="roundRect">
            <a:avLst>
              <a:gd name="adj" fmla="val 3333"/>
            </a:avLst>
          </a:prstGeom>
          <a:solidFill>
            <a:srgbClr val="0C3A45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3246120"/>
            <a:ext cx="603504" cy="60350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2794" y="3409066"/>
            <a:ext cx="277612" cy="2776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01368" y="324612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Vírus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1088136" y="4041648"/>
            <a:ext cx="4376776" cy="420624"/>
          </a:xfrm>
          <a:prstGeom prst="roundRect">
            <a:avLst>
              <a:gd name="adj" fmla="val 43478"/>
            </a:avLst>
          </a:prstGeom>
          <a:solidFill>
            <a:srgbClr val="06282F">
              <a:alpha val="0"/>
            </a:srgbClr>
          </a:solidFill>
          <a:ln w="12700">
            <a:solidFill>
              <a:srgbClr val="2C667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88136" y="4041648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H1N1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8136" y="4553712"/>
            <a:ext cx="4376776" cy="420624"/>
          </a:xfrm>
          <a:prstGeom prst="roundRect">
            <a:avLst>
              <a:gd name="adj" fmla="val 43478"/>
            </a:avLst>
          </a:prstGeom>
          <a:solidFill>
            <a:srgbClr val="06282F">
              <a:alpha val="0"/>
            </a:srgbClr>
          </a:solidFill>
          <a:ln w="12700">
            <a:solidFill>
              <a:srgbClr val="2C667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88136" y="4553712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H5N1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088136" y="5065776"/>
            <a:ext cx="4376776" cy="420624"/>
          </a:xfrm>
          <a:prstGeom prst="roundRect">
            <a:avLst>
              <a:gd name="adj" fmla="val 43478"/>
            </a:avLst>
          </a:prstGeom>
          <a:solidFill>
            <a:srgbClr val="06282F">
              <a:alpha val="0"/>
            </a:srgbClr>
          </a:solidFill>
          <a:ln w="12700">
            <a:solidFill>
              <a:srgbClr val="2C667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88136" y="5065776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SARS-CoV-2 (Covid-19)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324448" y="2926080"/>
            <a:ext cx="5181448" cy="2743200"/>
          </a:xfrm>
          <a:prstGeom prst="roundRect">
            <a:avLst>
              <a:gd name="adj" fmla="val 3333"/>
            </a:avLst>
          </a:prstGeom>
          <a:solidFill>
            <a:srgbClr val="0C3A45"/>
          </a:solidFill>
          <a:ln/>
        </p:spPr>
      </p:sp>
      <p:sp>
        <p:nvSpPr>
          <p:cNvPr id="17" name="Shape 14"/>
          <p:cNvSpPr/>
          <p:nvPr/>
        </p:nvSpPr>
        <p:spPr>
          <a:xfrm>
            <a:off x="6708496" y="3246120"/>
            <a:ext cx="603504" cy="60350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442" y="3409066"/>
            <a:ext cx="277612" cy="27761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40016" y="324612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Bactérias</a:t>
            </a:r>
            <a:endParaRPr lang="en-US" sz="2100" dirty="0"/>
          </a:p>
        </p:txBody>
      </p:sp>
      <p:sp>
        <p:nvSpPr>
          <p:cNvPr id="20" name="Shape 16"/>
          <p:cNvSpPr/>
          <p:nvPr/>
        </p:nvSpPr>
        <p:spPr>
          <a:xfrm>
            <a:off x="6726784" y="4041648"/>
            <a:ext cx="4376776" cy="420624"/>
          </a:xfrm>
          <a:prstGeom prst="roundRect">
            <a:avLst>
              <a:gd name="adj" fmla="val 43478"/>
            </a:avLst>
          </a:prstGeom>
          <a:solidFill>
            <a:srgbClr val="06282F">
              <a:alpha val="0"/>
            </a:srgbClr>
          </a:solidFill>
          <a:ln w="12700">
            <a:solidFill>
              <a:srgbClr val="2C667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726784" y="4041648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Salmonella enterica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726784" y="4553712"/>
            <a:ext cx="4376776" cy="420624"/>
          </a:xfrm>
          <a:prstGeom prst="roundRect">
            <a:avLst>
              <a:gd name="adj" fmla="val 43478"/>
            </a:avLst>
          </a:prstGeom>
          <a:solidFill>
            <a:srgbClr val="06282F">
              <a:alpha val="0"/>
            </a:srgbClr>
          </a:solidFill>
          <a:ln w="12700">
            <a:solidFill>
              <a:srgbClr val="2C667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726784" y="4553712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Escherichia coli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85800" y="585216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comprovada contra vírus envelopados e bactérias de alta relevância sanitária.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85800" y="6272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Hipocloroso · Guia técnico e comercial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105914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APLICAÇÕES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50976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spc="-40" kern="0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ácido hipocloroso já é protagonista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 no mercado da beleza, hoje é protagonista nas rotinas de skincare, um segredo dos dermatologistas — e virou braço direito das empresas que priorizam produtos de qualidade.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3017520"/>
            <a:ext cx="2464994" cy="2788920"/>
          </a:xfrm>
          <a:prstGeom prst="roundRect">
            <a:avLst>
              <a:gd name="adj" fmla="val 3710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  <a:effectLst>
            <a:outerShdw sx="100000" sy="100000" kx="0" ky="0" algn="bl" rotWithShape="0" blurRad="177800" dist="38100" dir="5400000">
              <a:srgbClr val="0B3A44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696" y="3328416"/>
            <a:ext cx="566928" cy="566928"/>
          </a:xfrm>
          <a:prstGeom prst="ellipse">
            <a:avLst/>
          </a:prstGeom>
          <a:solidFill>
            <a:srgbClr val="E7F2F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767" y="3481487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6696" y="4078224"/>
            <a:ext cx="18432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da beleza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96696" y="4700016"/>
            <a:ext cx="184320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nas rotinas de skincare e na estética profissional.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70834" y="3017520"/>
            <a:ext cx="2464994" cy="2788920"/>
          </a:xfrm>
          <a:prstGeom prst="roundRect">
            <a:avLst>
              <a:gd name="adj" fmla="val 3710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  <a:effectLst>
            <a:outerShdw sx="100000" sy="100000" kx="0" ky="0" algn="bl" rotWithShape="0" blurRad="177800" dist="38100" dir="5400000">
              <a:srgbClr val="0B3A44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81730" y="3328416"/>
            <a:ext cx="566928" cy="566928"/>
          </a:xfrm>
          <a:prstGeom prst="ellipse">
            <a:avLst/>
          </a:prstGeom>
          <a:solidFill>
            <a:srgbClr val="E7F2F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800" y="3481487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81730" y="4078224"/>
            <a:ext cx="18432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Segredo dos dermatologistas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781730" y="4700016"/>
            <a:ext cx="184320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Higieniza a pele sem atacar a barreira cutânea.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55868" y="3017520"/>
            <a:ext cx="2464994" cy="2788920"/>
          </a:xfrm>
          <a:prstGeom prst="roundRect">
            <a:avLst>
              <a:gd name="adj" fmla="val 3710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  <a:effectLst>
            <a:outerShdw sx="100000" sy="100000" kx="0" ky="0" algn="bl" rotWithShape="0" blurRad="177800" dist="38100" dir="5400000">
              <a:srgbClr val="0B3A44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66764" y="3328416"/>
            <a:ext cx="566928" cy="566928"/>
          </a:xfrm>
          <a:prstGeom prst="ellipse">
            <a:avLst/>
          </a:prstGeom>
          <a:solidFill>
            <a:srgbClr val="E7F2F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834" y="3481487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66764" y="4078224"/>
            <a:ext cx="18432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e ambientes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566764" y="4700016"/>
            <a:ext cx="184320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Braço direito de negócios que priorizam qualidade.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40901" y="3017520"/>
            <a:ext cx="2464994" cy="2788920"/>
          </a:xfrm>
          <a:prstGeom prst="roundRect">
            <a:avLst>
              <a:gd name="adj" fmla="val 3710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  <a:effectLst>
            <a:outerShdw sx="100000" sy="100000" kx="0" ky="0" algn="bl" rotWithShape="0" blurRad="177800" dist="38100" dir="5400000">
              <a:srgbClr val="0B3A44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51797" y="3328416"/>
            <a:ext cx="566928" cy="566928"/>
          </a:xfrm>
          <a:prstGeom prst="ellipse">
            <a:avLst/>
          </a:prstGeom>
          <a:solidFill>
            <a:srgbClr val="E7F2F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4868" y="3481487"/>
            <a:ext cx="260787" cy="26078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51797" y="4078224"/>
            <a:ext cx="18432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diário em casa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51797" y="4700016"/>
            <a:ext cx="184320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Mãos, objetos, brinquedos e superfícies da família.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85800" y="6272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Hipocloroso · Guia técnico e comercial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05914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50976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spc="-40" kern="0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empresas práticas já fizeram a troca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847088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 encontraram nessa higienização uma alternativa para manter tudo limpo e desinfetado, sem receio de agredir as superfícies.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788920"/>
            <a:ext cx="246499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  <a:effectLst>
            <a:outerShdw sx="100000" sy="100000" kx="0" ky="0" algn="bl" rotWithShape="0" blurRad="177800" dist="38100" dir="5400000">
              <a:srgbClr val="0B3A44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3017520"/>
            <a:ext cx="530352" cy="530352"/>
          </a:xfrm>
          <a:prstGeom prst="ellipse">
            <a:avLst/>
          </a:prstGeom>
          <a:solidFill>
            <a:srgbClr val="E7F2F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603" y="3160715"/>
            <a:ext cx="243962" cy="2439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8408" y="3639312"/>
            <a:ext cx="1879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rápida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78408" y="3950208"/>
            <a:ext cx="18797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imediata, sem etapas extras.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0834" y="2788920"/>
            <a:ext cx="246499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  <a:effectLst>
            <a:outerShdw sx="100000" sy="100000" kx="0" ky="0" algn="bl" rotWithShape="0" blurRad="177800" dist="38100" dir="5400000">
              <a:srgbClr val="0B3A44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63442" y="3017520"/>
            <a:ext cx="530352" cy="530352"/>
          </a:xfrm>
          <a:prstGeom prst="ellipse">
            <a:avLst/>
          </a:prstGeom>
          <a:solidFill>
            <a:srgbClr val="E7F2F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637" y="3160715"/>
            <a:ext cx="243962" cy="2439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63442" y="3639312"/>
            <a:ext cx="1879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segura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3763442" y="3950208"/>
            <a:ext cx="18797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risco para quem aplica e convive.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55868" y="2788920"/>
            <a:ext cx="246499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  <a:effectLst>
            <a:outerShdw sx="100000" sy="100000" kx="0" ky="0" algn="bl" rotWithShape="0" blurRad="177800" dist="38100" dir="5400000">
              <a:srgbClr val="0B3A44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48476" y="3017520"/>
            <a:ext cx="530352" cy="530352"/>
          </a:xfrm>
          <a:prstGeom prst="ellipse">
            <a:avLst/>
          </a:prstGeom>
          <a:solidFill>
            <a:srgbClr val="E7F2F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671" y="3160715"/>
            <a:ext cx="243962" cy="2439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48476" y="3639312"/>
            <a:ext cx="1879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inteligente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6548476" y="3950208"/>
            <a:ext cx="18797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produto para pele, objetos e ambientes.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40901" y="2788920"/>
            <a:ext cx="246499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  <a:effectLst>
            <a:outerShdw sx="100000" sy="100000" kx="0" ky="0" algn="bl" rotWithShape="0" blurRad="177800" dist="38100" dir="5400000">
              <a:srgbClr val="0B3A44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33509" y="3017520"/>
            <a:ext cx="530352" cy="530352"/>
          </a:xfrm>
          <a:prstGeom prst="ellipse">
            <a:avLst/>
          </a:prstGeom>
          <a:solidFill>
            <a:srgbClr val="E7F2F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6704" y="3160715"/>
            <a:ext cx="243962" cy="24396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33509" y="3639312"/>
            <a:ext cx="1879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eficaz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9333509" y="3950208"/>
            <a:ext cx="18797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Desinfecção real, não apenas limpeza.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85800" y="4937760"/>
            <a:ext cx="10820095" cy="1060704"/>
          </a:xfrm>
          <a:prstGeom prst="roundRect">
            <a:avLst>
              <a:gd name="adj" fmla="val 8621"/>
            </a:avLst>
          </a:prstGeom>
          <a:solidFill>
            <a:srgbClr val="06282F"/>
          </a:solidFill>
          <a:ln/>
        </p:spPr>
      </p:sp>
      <p:sp>
        <p:nvSpPr>
          <p:cNvPr id="26" name="Shape 20"/>
          <p:cNvSpPr/>
          <p:nvPr/>
        </p:nvSpPr>
        <p:spPr>
          <a:xfrm>
            <a:off x="1051560" y="5184648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4631" y="5337719"/>
            <a:ext cx="260787" cy="26078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783080" y="4937760"/>
            <a:ext cx="935705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diferencial: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ativo orgânico com poder de desinfetante — limpa, higieniza e desinfeta sem receio de agredir as superfícies.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685800" y="6272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Hipocloroso · Guia técnico e comercial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05914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TÉCNICO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50976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spc="-40" kern="0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ficha técnica em quatro eixos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você entender a tecnologia por trás do ácido hipocloroso, o catálogo técnico reúne as informações essenciais do produto.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880360"/>
            <a:ext cx="5181448" cy="1261872"/>
          </a:xfrm>
          <a:prstGeom prst="roundRect">
            <a:avLst>
              <a:gd name="adj" fmla="val 7246"/>
            </a:avLst>
          </a:prstGeom>
          <a:solidFill>
            <a:srgbClr val="F1F7F8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" y="3209544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930" y="3372490"/>
            <a:ext cx="277612" cy="2776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46504" y="3118104"/>
            <a:ext cx="380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ativo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746504" y="3447288"/>
            <a:ext cx="380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hipocloroso (HClO), em concentração definida na ficha técnica do produto.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24448" y="2880360"/>
            <a:ext cx="5181448" cy="1261872"/>
          </a:xfrm>
          <a:prstGeom prst="roundRect">
            <a:avLst>
              <a:gd name="adj" fmla="val 7246"/>
            </a:avLst>
          </a:prstGeom>
          <a:solidFill>
            <a:srgbClr val="F1F7F8"/>
          </a:solidFill>
          <a:ln/>
        </p:spPr>
      </p:sp>
      <p:sp>
        <p:nvSpPr>
          <p:cNvPr id="11" name="Shape 8"/>
          <p:cNvSpPr/>
          <p:nvPr/>
        </p:nvSpPr>
        <p:spPr>
          <a:xfrm>
            <a:off x="6653632" y="3209544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578" y="3372490"/>
            <a:ext cx="277612" cy="2776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85152" y="3118104"/>
            <a:ext cx="380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ação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385152" y="3447288"/>
            <a:ext cx="380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tempo o produto leva para neutralizar os microrganismos após a aplicação.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85800" y="4361688"/>
            <a:ext cx="5181448" cy="1261872"/>
          </a:xfrm>
          <a:prstGeom prst="roundRect">
            <a:avLst>
              <a:gd name="adj" fmla="val 7246"/>
            </a:avLst>
          </a:prstGeom>
          <a:solidFill>
            <a:srgbClr val="F1F7F8"/>
          </a:solidFill>
          <a:ln/>
        </p:spPr>
      </p:sp>
      <p:sp>
        <p:nvSpPr>
          <p:cNvPr id="16" name="Shape 12"/>
          <p:cNvSpPr/>
          <p:nvPr/>
        </p:nvSpPr>
        <p:spPr>
          <a:xfrm>
            <a:off x="1014984" y="4690872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930" y="4853818"/>
            <a:ext cx="277612" cy="2776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46504" y="4599432"/>
            <a:ext cx="380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Duração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746504" y="4928616"/>
            <a:ext cx="380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quanto tempo a proteção permanece ativa e qual a validade após a abertura.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24448" y="4361688"/>
            <a:ext cx="5181448" cy="1261872"/>
          </a:xfrm>
          <a:prstGeom prst="roundRect">
            <a:avLst>
              <a:gd name="adj" fmla="val 7246"/>
            </a:avLst>
          </a:prstGeom>
          <a:solidFill>
            <a:srgbClr val="F1F7F8"/>
          </a:solidFill>
          <a:ln/>
        </p:spPr>
      </p:sp>
      <p:sp>
        <p:nvSpPr>
          <p:cNvPr id="21" name="Shape 16"/>
          <p:cNvSpPr/>
          <p:nvPr/>
        </p:nvSpPr>
        <p:spPr>
          <a:xfrm>
            <a:off x="6653632" y="4690872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578" y="4853818"/>
            <a:ext cx="277612" cy="2776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85152" y="4599432"/>
            <a:ext cx="380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de aplicar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385152" y="4928616"/>
            <a:ext cx="380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 onde aplicar em pele, mãos, objetos, tecidos e superfícies.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85800" y="587044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concentração, tempos e instruções com os dados da ficha técnica oficial do produto.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85800" y="6272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Hipocloroso · Guia técnico e comercial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05914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2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05840"/>
            <a:ext cx="4937760" cy="4937760"/>
          </a:xfrm>
          <a:prstGeom prst="ellipse">
            <a:avLst/>
          </a:prstGeom>
          <a:solidFill>
            <a:srgbClr val="02809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72600" y="1965960"/>
            <a:ext cx="3017520" cy="3017520"/>
          </a:xfrm>
          <a:prstGeom prst="ellipse">
            <a:avLst/>
          </a:prstGeom>
          <a:solidFill>
            <a:srgbClr val="02C39A">
              <a:alpha val="14000"/>
            </a:srgbClr>
          </a:solidFill>
          <a:ln w="15875">
            <a:solidFill>
              <a:srgbClr val="00A89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4" y="2798064"/>
            <a:ext cx="1353312" cy="13533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3716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85800" y="1755648"/>
            <a:ext cx="7406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Higienizar com segurança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deixou de ser uma escolha difícil.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85800" y="3822192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C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aliado poderoso no cuidado diário: para a sua pele, para a sua casa e para o seu negócio.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4681728"/>
            <a:ext cx="6766560" cy="969264"/>
          </a:xfrm>
          <a:prstGeom prst="roundRect">
            <a:avLst>
              <a:gd name="adj" fmla="val 9434"/>
            </a:avLst>
          </a:prstGeom>
          <a:solidFill>
            <a:srgbClr val="0C3A45"/>
          </a:solidFill>
          <a:ln/>
        </p:spPr>
      </p:sp>
      <p:sp>
        <p:nvSpPr>
          <p:cNvPr id="9" name="Shape 6"/>
          <p:cNvSpPr/>
          <p:nvPr/>
        </p:nvSpPr>
        <p:spPr>
          <a:xfrm>
            <a:off x="996696" y="4882896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767" y="5035967"/>
            <a:ext cx="260787" cy="26078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28216" y="4681728"/>
            <a:ext cx="5486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Solicite o guia completo e o catálogo técnico.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85800" y="6272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Hipocloroso · Guia técnico e comercial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05914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Bandeira Soluções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Ácido Hipocloroso (HClO) — Guia Técnico e Comercial</dc:title>
  <dc:subject>PptxGenJS Presentation</dc:subject>
  <dc:creator>Bandeira Soluções</dc:creator>
  <cp:lastModifiedBy>Bandeira Soluções</cp:lastModifiedBy>
  <cp:revision>1</cp:revision>
  <dcterms:created xsi:type="dcterms:W3CDTF">2026-08-17T16:36:04Z</dcterms:created>
  <dcterms:modified xsi:type="dcterms:W3CDTF">2026-08-17T16:36:04Z</dcterms:modified>
</cp:coreProperties>
</file>